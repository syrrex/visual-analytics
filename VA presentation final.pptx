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59" r:id="rId1"/>
  </p:sldMasterIdLst>
  <p:notesMasterIdLst>
    <p:notesMasterId r:id="rId12"/>
  </p:notesMasterIdLst>
  <p:sldIdLst>
    <p:sldId id="256" r:id="rId2"/>
    <p:sldId id="257" r:id="rId3"/>
    <p:sldId id="258" r:id="rId4"/>
    <p:sldId id="259" r:id="rId5"/>
    <p:sldId id="260" r:id="rId6"/>
    <p:sldId id="261" r:id="rId7"/>
    <p:sldId id="262" r:id="rId8"/>
    <p:sldId id="263" r:id="rId9"/>
    <p:sldId id="265" r:id="rId10"/>
    <p:sldId id="264" r:id="rId11"/>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393" y="48"/>
      </p:cViewPr>
      <p:guideLst>
        <p:guide orient="horz" pos="1620"/>
        <p:guide pos="288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bert Oswald" userId="4f6ad857d6283d02" providerId="LiveId" clId="{EABE0A59-1A45-4CFA-AACC-CC3BB03FD5F6}"/>
    <pc:docChg chg="custSel modSld">
      <pc:chgData name="Robert Oswald" userId="4f6ad857d6283d02" providerId="LiveId" clId="{EABE0A59-1A45-4CFA-AACC-CC3BB03FD5F6}" dt="2024-06-25T05:17:13.949" v="2" actId="478"/>
      <pc:docMkLst>
        <pc:docMk/>
      </pc:docMkLst>
      <pc:sldChg chg="delSp mod">
        <pc:chgData name="Robert Oswald" userId="4f6ad857d6283d02" providerId="LiveId" clId="{EABE0A59-1A45-4CFA-AACC-CC3BB03FD5F6}" dt="2024-06-25T05:15:49.032" v="1" actId="478"/>
        <pc:sldMkLst>
          <pc:docMk/>
          <pc:sldMk cId="0" sldId="259"/>
        </pc:sldMkLst>
        <pc:spChg chg="del">
          <ac:chgData name="Robert Oswald" userId="4f6ad857d6283d02" providerId="LiveId" clId="{EABE0A59-1A45-4CFA-AACC-CC3BB03FD5F6}" dt="2024-06-25T05:15:49.032" v="1" actId="478"/>
          <ac:spMkLst>
            <pc:docMk/>
            <pc:sldMk cId="0" sldId="259"/>
            <ac:spMk id="88" creationId="{00000000-0000-0000-0000-000000000000}"/>
          </ac:spMkLst>
        </pc:spChg>
      </pc:sldChg>
      <pc:sldChg chg="delSp mod">
        <pc:chgData name="Robert Oswald" userId="4f6ad857d6283d02" providerId="LiveId" clId="{EABE0A59-1A45-4CFA-AACC-CC3BB03FD5F6}" dt="2024-06-25T05:15:44.145" v="0" actId="478"/>
        <pc:sldMkLst>
          <pc:docMk/>
          <pc:sldMk cId="0" sldId="260"/>
        </pc:sldMkLst>
        <pc:spChg chg="del">
          <ac:chgData name="Robert Oswald" userId="4f6ad857d6283d02" providerId="LiveId" clId="{EABE0A59-1A45-4CFA-AACC-CC3BB03FD5F6}" dt="2024-06-25T05:15:44.145" v="0" actId="478"/>
          <ac:spMkLst>
            <pc:docMk/>
            <pc:sldMk cId="0" sldId="260"/>
            <ac:spMk id="98" creationId="{00000000-0000-0000-0000-000000000000}"/>
          </ac:spMkLst>
        </pc:spChg>
      </pc:sldChg>
      <pc:sldChg chg="delSp mod">
        <pc:chgData name="Robert Oswald" userId="4f6ad857d6283d02" providerId="LiveId" clId="{EABE0A59-1A45-4CFA-AACC-CC3BB03FD5F6}" dt="2024-06-25T05:17:13.949" v="2" actId="478"/>
        <pc:sldMkLst>
          <pc:docMk/>
          <pc:sldMk cId="0" sldId="261"/>
        </pc:sldMkLst>
        <pc:spChg chg="del">
          <ac:chgData name="Robert Oswald" userId="4f6ad857d6283d02" providerId="LiveId" clId="{EABE0A59-1A45-4CFA-AACC-CC3BB03FD5F6}" dt="2024-06-25T05:17:13.949" v="2" actId="478"/>
          <ac:spMkLst>
            <pc:docMk/>
            <pc:sldMk cId="0" sldId="261"/>
            <ac:spMk id="10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2e7c78e7b96_2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 name="Google Shape;59;g2e7c78e7b96_2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e5394302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e5394302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de" b="1">
                <a:solidFill>
                  <a:schemeClr val="dk1"/>
                </a:solidFill>
              </a:rPr>
              <a:t>Key Concepts and Principles:</a:t>
            </a:r>
            <a:endParaRPr b="1">
              <a:solidFill>
                <a:schemeClr val="dk1"/>
              </a:solidFill>
            </a:endParaRPr>
          </a:p>
          <a:p>
            <a:pPr marL="457200" lvl="0" indent="-298450" algn="l" rtl="0">
              <a:lnSpc>
                <a:spcPct val="115000"/>
              </a:lnSpc>
              <a:spcBef>
                <a:spcPts val="1200"/>
              </a:spcBef>
              <a:spcAft>
                <a:spcPts val="0"/>
              </a:spcAft>
              <a:buClr>
                <a:schemeClr val="dk1"/>
              </a:buClr>
              <a:buSzPts val="1100"/>
              <a:buAutoNum type="arabicPeriod"/>
            </a:pPr>
            <a:r>
              <a:rPr lang="de" b="1">
                <a:solidFill>
                  <a:schemeClr val="dk1"/>
                </a:solidFill>
              </a:rPr>
              <a:t>Goal-Directed Design:</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Central to the book is the concept of goal-directed design, which emphasizes designing products that help users achieve their goals efficiently and effectively.</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The process involves understanding users' needs, behaviors, and motivations through thorough research and translating this understanding into design solutions.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de" b="1">
                <a:solidFill>
                  <a:schemeClr val="dk1"/>
                </a:solidFill>
              </a:rPr>
              <a:t>Personas:</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Personas are fictional characters representing different user types. They are created based on user research and are used to guide design decisions.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Personas help designers maintain a clear focus on user needs throughout the design process.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de" b="1">
                <a:solidFill>
                  <a:schemeClr val="dk1"/>
                </a:solidFill>
              </a:rPr>
              <a:t>Scenarios and Use Cases:</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Scenarios describe how personas interact with the product in specific contexts to achieve their goals.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Use cases are detailed descriptions of interactions between the user and the system, outlining steps to complete particular tasks.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de" b="1">
                <a:solidFill>
                  <a:schemeClr val="dk1"/>
                </a:solidFill>
              </a:rPr>
              <a:t>Principles of Good Interaction Design:</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Consistency: Ensuring a uniform experience across the interface to make it predictable and easy to learn.</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Feedback: Providing clear, immediate feedback to users about the results of their actions.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Affordances: Designing elements that suggest their use, making interactions intuitive.</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Simplicity: Reducing complexity by eliminating unnecessary elements and focusing on core functionalities.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de" b="1">
                <a:solidFill>
                  <a:schemeClr val="dk1"/>
                </a:solidFill>
              </a:rPr>
              <a:t>Design Patterns:</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The book introduces design patterns as reusable solutions to common design problems. Patterns help create consistent and effective user experiences.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Examples include navigation patterns, input patterns, and display patterns.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de" b="1">
                <a:solidFill>
                  <a:schemeClr val="dk1"/>
                </a:solidFill>
              </a:rPr>
              <a:t>Visual Interface Design:</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The book covers the principles of visual design, including layout, typography, color theory, and iconography.</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It emphasizes the importance of aligning visual design with interaction design to create a cohesive user experience.</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de" b="1">
                <a:solidFill>
                  <a:schemeClr val="dk1"/>
                </a:solidFill>
              </a:rPr>
              <a:t>Prototyping and Testing:</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Prototyping is presented as a crucial step in the design process, allowing designers to explore ideas and test assumptions early.</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User testing is essential to validate designs with real users, ensuring the product meets their needs and expectations.</a:t>
            </a:r>
            <a:endParaRPr>
              <a:solidFill>
                <a:schemeClr val="dk1"/>
              </a:solidFill>
            </a:endParaRPr>
          </a:p>
          <a:p>
            <a:pPr marL="457200" lvl="0" indent="-298450" algn="l" rtl="0">
              <a:lnSpc>
                <a:spcPct val="115000"/>
              </a:lnSpc>
              <a:spcBef>
                <a:spcPts val="0"/>
              </a:spcBef>
              <a:spcAft>
                <a:spcPts val="0"/>
              </a:spcAft>
              <a:buClr>
                <a:schemeClr val="dk1"/>
              </a:buClr>
              <a:buSzPts val="1100"/>
              <a:buAutoNum type="arabicPeriod"/>
            </a:pPr>
            <a:r>
              <a:rPr lang="de" b="1">
                <a:solidFill>
                  <a:schemeClr val="dk1"/>
                </a:solidFill>
              </a:rPr>
              <a:t>Collaboration and Communication:</a:t>
            </a:r>
            <a:endParaRPr b="1">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The book discusses the importance of effective communication and collaboration within design teams and with stakeholders.</a:t>
            </a:r>
            <a:endParaRPr>
              <a:solidFill>
                <a:schemeClr val="dk1"/>
              </a:solidFill>
            </a:endParaRPr>
          </a:p>
          <a:p>
            <a:pPr marL="914400" lvl="1" indent="-298450" algn="l" rtl="0">
              <a:lnSpc>
                <a:spcPct val="115000"/>
              </a:lnSpc>
              <a:spcBef>
                <a:spcPts val="0"/>
              </a:spcBef>
              <a:spcAft>
                <a:spcPts val="0"/>
              </a:spcAft>
              <a:buClr>
                <a:schemeClr val="dk1"/>
              </a:buClr>
              <a:buSzPts val="1100"/>
              <a:buChar char="○"/>
            </a:pPr>
            <a:r>
              <a:rPr lang="de">
                <a:solidFill>
                  <a:schemeClr val="dk1"/>
                </a:solidFill>
              </a:rPr>
              <a:t>Techniques for presenting design concepts and obtaining feedback are also covered.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
        <p:cNvGrpSpPr/>
        <p:nvPr/>
      </p:nvGrpSpPr>
      <p:grpSpPr>
        <a:xfrm>
          <a:off x="0" y="0"/>
          <a:ext cx="0" cy="0"/>
          <a:chOff x="0" y="0"/>
          <a:chExt cx="0" cy="0"/>
        </a:xfrm>
      </p:grpSpPr>
      <p:sp>
        <p:nvSpPr>
          <p:cNvPr id="77" name="Google Shape;77;g2e539430241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 name="Google Shape;78;g2e539430241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2e7c78e7b9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2e7c78e7b9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42900" algn="l" rtl="0">
              <a:lnSpc>
                <a:spcPct val="115000"/>
              </a:lnSpc>
              <a:spcBef>
                <a:spcPts val="0"/>
              </a:spcBef>
              <a:spcAft>
                <a:spcPts val="0"/>
              </a:spcAft>
              <a:buClr>
                <a:srgbClr val="595959"/>
              </a:buClr>
              <a:buSzPts val="1800"/>
              <a:buChar char="●"/>
            </a:pPr>
            <a:r>
              <a:rPr lang="de" sz="1800">
                <a:solidFill>
                  <a:srgbClr val="595959"/>
                </a:solidFill>
              </a:rPr>
              <a:t>Who are the users of your solution? e.g., skill set and previous knowledge required?</a:t>
            </a:r>
            <a:endParaRPr sz="1800">
              <a:solidFill>
                <a:srgbClr val="595959"/>
              </a:solidFill>
            </a:endParaRPr>
          </a:p>
          <a:p>
            <a:pPr marL="457200" lvl="0" indent="-342900" algn="l" rtl="0">
              <a:lnSpc>
                <a:spcPct val="115000"/>
              </a:lnSpc>
              <a:spcBef>
                <a:spcPts val="0"/>
              </a:spcBef>
              <a:spcAft>
                <a:spcPts val="0"/>
              </a:spcAft>
              <a:buClr>
                <a:srgbClr val="595959"/>
              </a:buClr>
              <a:buSzPts val="1800"/>
              <a:buChar char="●"/>
            </a:pPr>
            <a:r>
              <a:rPr lang="de" sz="1800">
                <a:solidFill>
                  <a:srgbClr val="595959"/>
                </a:solidFill>
              </a:rPr>
              <a:t>Tasks: Which user tasks does your tool support? e.g., exploration, confirmation, comparison, grouping/generalization, trend analysis etc  </a:t>
            </a:r>
            <a:endParaRPr sz="1800">
              <a:solidFill>
                <a:srgbClr val="595959"/>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g2e4e87721e5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 name="Google Shape;101;g2e4e87721e5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e4e87721e5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e4e87721e5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e4e87721e5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e4e87721e5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2e4e87721e5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2e4e87721e5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73987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g2e7c78e7b96_5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g2e7c78e7b96_5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de"/>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7.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de"/>
              <a:t>NFL visual data analysis application</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fontScale="85000" lnSpcReduction="20000"/>
          </a:bodyPr>
          <a:lstStyle/>
          <a:p>
            <a:pPr marL="0" lvl="0" indent="0" algn="ctr" rtl="0">
              <a:spcBef>
                <a:spcPts val="0"/>
              </a:spcBef>
              <a:spcAft>
                <a:spcPts val="0"/>
              </a:spcAft>
              <a:buNone/>
            </a:pPr>
            <a:r>
              <a:rPr lang="de"/>
              <a:t>Robert Oswald, Lukas Brander, Konstantin Benischke, Marc Velmeden</a:t>
            </a:r>
            <a:endParaRPr/>
          </a:p>
        </p:txBody>
      </p:sp>
      <p:pic>
        <p:nvPicPr>
          <p:cNvPr id="56" name="Google Shape;56;p13"/>
          <p:cNvPicPr preferRelativeResize="0"/>
          <p:nvPr/>
        </p:nvPicPr>
        <p:blipFill>
          <a:blip r:embed="rId3">
            <a:alphaModFix/>
          </a:blip>
          <a:stretch>
            <a:fillRect/>
          </a:stretch>
        </p:blipFill>
        <p:spPr>
          <a:xfrm>
            <a:off x="7184852" y="0"/>
            <a:ext cx="1959148" cy="97957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1" name="Google Shape;6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de"/>
              <a:t>Motivation</a:t>
            </a:r>
            <a:endParaRPr/>
          </a:p>
        </p:txBody>
      </p:sp>
      <p:sp>
        <p:nvSpPr>
          <p:cNvPr id="62" name="Google Shape;62;p14"/>
          <p:cNvSpPr txBox="1">
            <a:spLocks noGrp="1"/>
          </p:cNvSpPr>
          <p:nvPr>
            <p:ph type="body" idx="1"/>
          </p:nvPr>
        </p:nvSpPr>
        <p:spPr>
          <a:xfrm>
            <a:off x="311700" y="1152475"/>
            <a:ext cx="8520600" cy="37101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de" sz="1100" b="1">
                <a:solidFill>
                  <a:schemeClr val="dk1"/>
                </a:solidFill>
              </a:rPr>
              <a:t>NFL highly competitive</a:t>
            </a:r>
            <a:endParaRPr sz="1100" b="1">
              <a:solidFill>
                <a:schemeClr val="dk1"/>
              </a:solidFill>
            </a:endParaRPr>
          </a:p>
          <a:p>
            <a:pPr marL="457200" lvl="0" indent="-298450" algn="l" rtl="0">
              <a:spcBef>
                <a:spcPts val="1200"/>
              </a:spcBef>
              <a:spcAft>
                <a:spcPts val="0"/>
              </a:spcAft>
              <a:buSzPts val="1100"/>
              <a:buChar char="●"/>
            </a:pPr>
            <a:r>
              <a:rPr lang="de" sz="1100"/>
              <a:t>marginal difference between won and loss</a:t>
            </a:r>
            <a:endParaRPr sz="1100"/>
          </a:p>
          <a:p>
            <a:pPr marL="0" lvl="0" indent="0" algn="l" rtl="0">
              <a:spcBef>
                <a:spcPts val="1200"/>
              </a:spcBef>
              <a:spcAft>
                <a:spcPts val="0"/>
              </a:spcAft>
              <a:buNone/>
            </a:pPr>
            <a:r>
              <a:rPr lang="de" sz="1100" b="1">
                <a:solidFill>
                  <a:schemeClr val="dk1"/>
                </a:solidFill>
              </a:rPr>
              <a:t>Need for analysis:</a:t>
            </a:r>
            <a:endParaRPr sz="1100" b="1">
              <a:solidFill>
                <a:schemeClr val="dk1"/>
              </a:solidFill>
            </a:endParaRPr>
          </a:p>
          <a:p>
            <a:pPr marL="457200" lvl="0" indent="-298450" algn="l" rtl="0">
              <a:spcBef>
                <a:spcPts val="1200"/>
              </a:spcBef>
              <a:spcAft>
                <a:spcPts val="0"/>
              </a:spcAft>
              <a:buSzPts val="1100"/>
              <a:buChar char="●"/>
            </a:pPr>
            <a:r>
              <a:rPr lang="de" sz="1100"/>
              <a:t>difference between winning and losing often marginal</a:t>
            </a:r>
            <a:endParaRPr sz="1100"/>
          </a:p>
          <a:p>
            <a:pPr marL="457200" lvl="0" indent="-298450" algn="l" rtl="0">
              <a:spcBef>
                <a:spcPts val="0"/>
              </a:spcBef>
              <a:spcAft>
                <a:spcPts val="0"/>
              </a:spcAft>
              <a:buSzPts val="1100"/>
              <a:buChar char="●"/>
            </a:pPr>
            <a:r>
              <a:rPr lang="de" sz="1100"/>
              <a:t>player performance, strategic tactics, game dynamics influenced by multiple factors</a:t>
            </a:r>
            <a:endParaRPr sz="1100"/>
          </a:p>
          <a:p>
            <a:pPr marL="0" lvl="0" indent="0" algn="l" rtl="0">
              <a:spcBef>
                <a:spcPts val="1200"/>
              </a:spcBef>
              <a:spcAft>
                <a:spcPts val="0"/>
              </a:spcAft>
              <a:buNone/>
            </a:pPr>
            <a:r>
              <a:rPr lang="de" sz="1100" b="1">
                <a:solidFill>
                  <a:schemeClr val="dk1"/>
                </a:solidFill>
              </a:rPr>
              <a:t>Purpose of the Tool:</a:t>
            </a:r>
            <a:endParaRPr sz="1100" b="1">
              <a:solidFill>
                <a:schemeClr val="dk1"/>
              </a:solidFill>
            </a:endParaRPr>
          </a:p>
          <a:p>
            <a:pPr marL="457200" lvl="0" indent="-298450" algn="l" rtl="0">
              <a:spcBef>
                <a:spcPts val="1200"/>
              </a:spcBef>
              <a:spcAft>
                <a:spcPts val="0"/>
              </a:spcAft>
              <a:buSzPts val="1100"/>
              <a:buChar char="●"/>
            </a:pPr>
            <a:r>
              <a:rPr lang="de" sz="1100"/>
              <a:t>insights into: player behavior, team tactics, offensive and defensive schemes</a:t>
            </a:r>
            <a:endParaRPr sz="1100"/>
          </a:p>
          <a:p>
            <a:pPr marL="0" lvl="0" indent="0" algn="l" rtl="0">
              <a:spcBef>
                <a:spcPts val="1200"/>
              </a:spcBef>
              <a:spcAft>
                <a:spcPts val="0"/>
              </a:spcAft>
              <a:buNone/>
            </a:pPr>
            <a:r>
              <a:rPr lang="de" sz="1100" b="1">
                <a:solidFill>
                  <a:schemeClr val="dk1"/>
                </a:solidFill>
              </a:rPr>
              <a:t>Core Functionalities:</a:t>
            </a:r>
            <a:endParaRPr sz="1100" b="1">
              <a:solidFill>
                <a:schemeClr val="dk1"/>
              </a:solidFill>
            </a:endParaRPr>
          </a:p>
          <a:p>
            <a:pPr marL="457200" lvl="0" indent="-298450" algn="l" rtl="0">
              <a:spcBef>
                <a:spcPts val="1200"/>
              </a:spcBef>
              <a:spcAft>
                <a:spcPts val="0"/>
              </a:spcAft>
              <a:buSzPts val="1100"/>
              <a:buChar char="●"/>
            </a:pPr>
            <a:r>
              <a:rPr lang="de" sz="1100"/>
              <a:t>visualization of player movements, interactive play analysis, detailed statistical insights, speed and acceleration analysis, interaction heatmap </a:t>
            </a:r>
            <a:endParaRPr sz="1100"/>
          </a:p>
        </p:txBody>
      </p:sp>
      <p:pic>
        <p:nvPicPr>
          <p:cNvPr id="63" name="Google Shape;63;p14"/>
          <p:cNvPicPr preferRelativeResize="0"/>
          <p:nvPr/>
        </p:nvPicPr>
        <p:blipFill>
          <a:blip r:embed="rId3">
            <a:alphaModFix/>
          </a:blip>
          <a:stretch>
            <a:fillRect/>
          </a:stretch>
        </p:blipFill>
        <p:spPr>
          <a:xfrm>
            <a:off x="8053525" y="0"/>
            <a:ext cx="1090473" cy="545226"/>
          </a:xfrm>
          <a:prstGeom prst="rect">
            <a:avLst/>
          </a:prstGeom>
          <a:noFill/>
          <a:ln>
            <a:noFill/>
          </a:ln>
        </p:spPr>
      </p:pic>
      <p:cxnSp>
        <p:nvCxnSpPr>
          <p:cNvPr id="64" name="Google Shape;64;p14"/>
          <p:cNvCxnSpPr/>
          <p:nvPr/>
        </p:nvCxnSpPr>
        <p:spPr>
          <a:xfrm>
            <a:off x="228575" y="958175"/>
            <a:ext cx="8634300" cy="0"/>
          </a:xfrm>
          <a:prstGeom prst="straightConnector1">
            <a:avLst/>
          </a:prstGeom>
          <a:noFill/>
          <a:ln w="19050" cap="flat" cmpd="sng">
            <a:solidFill>
              <a:srgbClr val="999999"/>
            </a:solidFill>
            <a:prstDash val="solid"/>
            <a:round/>
            <a:headEnd type="none" w="med" len="med"/>
            <a:tailEnd type="none" w="med" len="med"/>
          </a:ln>
        </p:spPr>
      </p:cxnSp>
      <p:sp>
        <p:nvSpPr>
          <p:cNvPr id="65" name="Google Shape;65;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de"/>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marR="0" lvl="0" indent="0" algn="l" rtl="0">
              <a:lnSpc>
                <a:spcPct val="100000"/>
              </a:lnSpc>
              <a:spcBef>
                <a:spcPts val="0"/>
              </a:spcBef>
              <a:spcAft>
                <a:spcPts val="0"/>
              </a:spcAft>
              <a:buNone/>
            </a:pPr>
            <a:r>
              <a:rPr lang="de" sz="2150"/>
              <a:t>Design process</a:t>
            </a:r>
            <a:endParaRPr/>
          </a:p>
        </p:txBody>
      </p:sp>
      <p:sp>
        <p:nvSpPr>
          <p:cNvPr id="71" name="Google Shape;71;p1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92500"/>
          </a:bodyPr>
          <a:lstStyle/>
          <a:p>
            <a:pPr marL="0" lvl="0" indent="0" algn="l" rtl="0">
              <a:spcBef>
                <a:spcPts val="1200"/>
              </a:spcBef>
              <a:spcAft>
                <a:spcPts val="0"/>
              </a:spcAft>
              <a:buClr>
                <a:schemeClr val="dk1"/>
              </a:buClr>
              <a:buSzPts val="1100"/>
              <a:buFont typeface="Arial"/>
              <a:buNone/>
            </a:pPr>
            <a:r>
              <a:rPr lang="de" sz="1100" b="1">
                <a:solidFill>
                  <a:schemeClr val="dk1"/>
                </a:solidFill>
              </a:rPr>
              <a:t>User-Centered Design (UCD)</a:t>
            </a:r>
            <a:endParaRPr sz="1100" b="1">
              <a:solidFill>
                <a:schemeClr val="dk1"/>
              </a:solidFill>
            </a:endParaRPr>
          </a:p>
          <a:p>
            <a:pPr marL="457200" lvl="0" indent="-298450" algn="l" rtl="0">
              <a:spcBef>
                <a:spcPts val="1200"/>
              </a:spcBef>
              <a:spcAft>
                <a:spcPts val="0"/>
              </a:spcAft>
              <a:buClr>
                <a:schemeClr val="dk1"/>
              </a:buClr>
              <a:buSzPts val="1100"/>
              <a:buChar char="●"/>
            </a:pPr>
            <a:r>
              <a:rPr lang="de" sz="1100" b="1">
                <a:solidFill>
                  <a:schemeClr val="dk1"/>
                </a:solidFill>
              </a:rPr>
              <a:t>Rationale:</a:t>
            </a:r>
            <a:r>
              <a:rPr lang="de" sz="1100">
                <a:solidFill>
                  <a:schemeClr val="dk1"/>
                </a:solidFill>
              </a:rPr>
              <a:t> </a:t>
            </a:r>
            <a:r>
              <a:rPr lang="de" sz="1211"/>
              <a:t>Ensures the software meets the needs and preferences of the end users (coaches, analysts, players)</a:t>
            </a:r>
            <a:r>
              <a:rPr lang="de" sz="1100">
                <a:solidFill>
                  <a:schemeClr val="dk1"/>
                </a:solidFill>
              </a:rPr>
              <a:t>.</a:t>
            </a:r>
            <a:endParaRPr sz="1100">
              <a:solidFill>
                <a:schemeClr val="dk1"/>
              </a:solidFill>
            </a:endParaRPr>
          </a:p>
          <a:p>
            <a:pPr marL="457200" lvl="0" indent="-298450" algn="l" rtl="0">
              <a:spcBef>
                <a:spcPts val="0"/>
              </a:spcBef>
              <a:spcAft>
                <a:spcPts val="0"/>
              </a:spcAft>
              <a:buClr>
                <a:schemeClr val="dk1"/>
              </a:buClr>
              <a:buSzPts val="1100"/>
              <a:buChar char="●"/>
            </a:pPr>
            <a:r>
              <a:rPr lang="de" sz="1100" b="1">
                <a:solidFill>
                  <a:schemeClr val="dk1"/>
                </a:solidFill>
              </a:rPr>
              <a:t>Steps:</a:t>
            </a:r>
            <a:endParaRPr sz="1100" b="1">
              <a:solidFill>
                <a:schemeClr val="dk1"/>
              </a:solidFill>
            </a:endParaRPr>
          </a:p>
          <a:p>
            <a:pPr marL="914400" lvl="1" indent="-298450" algn="l" rtl="0">
              <a:spcBef>
                <a:spcPts val="0"/>
              </a:spcBef>
              <a:spcAft>
                <a:spcPts val="0"/>
              </a:spcAft>
              <a:buClr>
                <a:schemeClr val="dk1"/>
              </a:buClr>
              <a:buSzPts val="1100"/>
              <a:buChar char="○"/>
            </a:pPr>
            <a:r>
              <a:rPr lang="de" sz="1211"/>
              <a:t>Analysis the other software</a:t>
            </a:r>
            <a:endParaRPr sz="1100">
              <a:solidFill>
                <a:schemeClr val="dk1"/>
              </a:solidFill>
            </a:endParaRPr>
          </a:p>
          <a:p>
            <a:pPr marL="914400" lvl="1" indent="-298450" algn="l" rtl="0">
              <a:spcBef>
                <a:spcPts val="0"/>
              </a:spcBef>
              <a:spcAft>
                <a:spcPts val="0"/>
              </a:spcAft>
              <a:buClr>
                <a:schemeClr val="dk1"/>
              </a:buClr>
              <a:buSzPts val="1100"/>
              <a:buChar char="○"/>
            </a:pPr>
            <a:r>
              <a:rPr lang="de" sz="1211"/>
              <a:t>Use expertise of our experts (Robert, Lukas)</a:t>
            </a:r>
            <a:endParaRPr sz="1211"/>
          </a:p>
          <a:p>
            <a:pPr marL="914400" lvl="1" indent="-305546" algn="l" rtl="0">
              <a:spcBef>
                <a:spcPts val="0"/>
              </a:spcBef>
              <a:spcAft>
                <a:spcPts val="0"/>
              </a:spcAft>
              <a:buClr>
                <a:schemeClr val="dk1"/>
              </a:buClr>
              <a:buSzPts val="1212"/>
              <a:buChar char="○"/>
            </a:pPr>
            <a:r>
              <a:rPr lang="de" sz="1211"/>
              <a:t>Task by Data Type Taxonomy</a:t>
            </a:r>
            <a:endParaRPr sz="1211"/>
          </a:p>
          <a:p>
            <a:pPr marL="0" lvl="0" indent="0" algn="l" rtl="0">
              <a:spcBef>
                <a:spcPts val="1200"/>
              </a:spcBef>
              <a:spcAft>
                <a:spcPts val="0"/>
              </a:spcAft>
              <a:buNone/>
            </a:pPr>
            <a:r>
              <a:rPr lang="de" sz="1100" b="1">
                <a:solidFill>
                  <a:schemeClr val="dk1"/>
                </a:solidFill>
              </a:rPr>
              <a:t>Interaction Design</a:t>
            </a:r>
            <a:endParaRPr sz="1100" b="1">
              <a:solidFill>
                <a:schemeClr val="dk1"/>
              </a:solidFill>
            </a:endParaRPr>
          </a:p>
          <a:p>
            <a:pPr marL="457200" marR="0" lvl="0" indent="-298450" algn="l" rtl="0">
              <a:lnSpc>
                <a:spcPct val="115000"/>
              </a:lnSpc>
              <a:spcBef>
                <a:spcPts val="1200"/>
              </a:spcBef>
              <a:spcAft>
                <a:spcPts val="0"/>
              </a:spcAft>
              <a:buClr>
                <a:schemeClr val="dk1"/>
              </a:buClr>
              <a:buSzPts val="1100"/>
              <a:buChar char="●"/>
            </a:pPr>
            <a:r>
              <a:rPr lang="de" sz="1100" b="1">
                <a:solidFill>
                  <a:schemeClr val="dk1"/>
                </a:solidFill>
              </a:rPr>
              <a:t>Rationale:</a:t>
            </a:r>
            <a:r>
              <a:rPr lang="de" sz="1100">
                <a:solidFill>
                  <a:schemeClr val="dk1"/>
                </a:solidFill>
              </a:rPr>
              <a:t> </a:t>
            </a:r>
            <a:r>
              <a:rPr lang="de" sz="1211"/>
              <a:t>Enhances user engagement and usability through interactive elements.</a:t>
            </a:r>
            <a:endParaRPr sz="1100">
              <a:solidFill>
                <a:schemeClr val="dk1"/>
              </a:solidFill>
            </a:endParaRPr>
          </a:p>
          <a:p>
            <a:pPr marL="457200" lvl="0" indent="-298450" algn="l" rtl="0">
              <a:spcBef>
                <a:spcPts val="0"/>
              </a:spcBef>
              <a:spcAft>
                <a:spcPts val="0"/>
              </a:spcAft>
              <a:buClr>
                <a:schemeClr val="dk1"/>
              </a:buClr>
              <a:buSzPts val="1100"/>
              <a:buChar char="●"/>
            </a:pPr>
            <a:r>
              <a:rPr lang="de" sz="1100" b="1">
                <a:solidFill>
                  <a:schemeClr val="dk1"/>
                </a:solidFill>
              </a:rPr>
              <a:t>Steps:</a:t>
            </a:r>
            <a:endParaRPr sz="1100" b="1">
              <a:solidFill>
                <a:schemeClr val="dk1"/>
              </a:solidFill>
            </a:endParaRPr>
          </a:p>
          <a:p>
            <a:pPr marL="914400" marR="0" lvl="1" indent="-298450" algn="l" rtl="0">
              <a:lnSpc>
                <a:spcPct val="115000"/>
              </a:lnSpc>
              <a:spcBef>
                <a:spcPts val="0"/>
              </a:spcBef>
              <a:spcAft>
                <a:spcPts val="0"/>
              </a:spcAft>
              <a:buClr>
                <a:schemeClr val="dk1"/>
              </a:buClr>
              <a:buSzPts val="1100"/>
              <a:buChar char="○"/>
            </a:pPr>
            <a:r>
              <a:rPr lang="de" sz="1211"/>
              <a:t>Interactive Plots: Developed plots to visualize player movements, speed, acceleration, and proximity dynamically.</a:t>
            </a:r>
            <a:endParaRPr sz="1211"/>
          </a:p>
          <a:p>
            <a:pPr marL="914400" marR="0" lvl="1" indent="-298450" algn="l" rtl="0">
              <a:lnSpc>
                <a:spcPct val="115000"/>
              </a:lnSpc>
              <a:spcBef>
                <a:spcPts val="0"/>
              </a:spcBef>
              <a:spcAft>
                <a:spcPts val="0"/>
              </a:spcAft>
              <a:buClr>
                <a:schemeClr val="dk1"/>
              </a:buClr>
              <a:buSzPts val="1100"/>
              <a:buChar char="○"/>
            </a:pPr>
            <a:r>
              <a:rPr lang="de" sz="1211"/>
              <a:t>User Interface (UI) Design: Created an intuitive layout with filters on the left side for easy access and interaction.</a:t>
            </a:r>
            <a:endParaRPr sz="1211"/>
          </a:p>
          <a:p>
            <a:pPr marL="914400" marR="0" lvl="1" indent="-305546" algn="l" rtl="0">
              <a:lnSpc>
                <a:spcPct val="115000"/>
              </a:lnSpc>
              <a:spcBef>
                <a:spcPts val="0"/>
              </a:spcBef>
              <a:spcAft>
                <a:spcPts val="0"/>
              </a:spcAft>
              <a:buClr>
                <a:schemeClr val="dk1"/>
              </a:buClr>
              <a:buSzPts val="1212"/>
              <a:buChar char="○"/>
            </a:pPr>
            <a:r>
              <a:rPr lang="de" sz="1211"/>
              <a:t>overview first, zoom and filter, then details-on-demand</a:t>
            </a:r>
            <a:endParaRPr sz="1211"/>
          </a:p>
          <a:p>
            <a:pPr marL="0" marR="0" lvl="0" indent="0" algn="l" rtl="0">
              <a:lnSpc>
                <a:spcPct val="115000"/>
              </a:lnSpc>
              <a:spcBef>
                <a:spcPts val="1200"/>
              </a:spcBef>
              <a:spcAft>
                <a:spcPts val="1200"/>
              </a:spcAft>
              <a:buNone/>
            </a:pPr>
            <a:endParaRPr sz="1211"/>
          </a:p>
        </p:txBody>
      </p:sp>
      <p:sp>
        <p:nvSpPr>
          <p:cNvPr id="72" name="Google Shape;72;p15"/>
          <p:cNvSpPr txBox="1"/>
          <p:nvPr/>
        </p:nvSpPr>
        <p:spPr>
          <a:xfrm>
            <a:off x="4438650" y="4326600"/>
            <a:ext cx="4582500" cy="816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1200"/>
              </a:spcBef>
              <a:spcAft>
                <a:spcPts val="0"/>
              </a:spcAft>
              <a:buNone/>
            </a:pPr>
            <a:r>
              <a:rPr lang="de" sz="500">
                <a:solidFill>
                  <a:schemeClr val="dk2"/>
                </a:solidFill>
              </a:rPr>
              <a:t>Inspiration:</a:t>
            </a:r>
            <a:br>
              <a:rPr lang="de" sz="500">
                <a:solidFill>
                  <a:schemeClr val="dk2"/>
                </a:solidFill>
              </a:rPr>
            </a:br>
            <a:br>
              <a:rPr lang="de" sz="500">
                <a:solidFill>
                  <a:schemeClr val="dk2"/>
                </a:solidFill>
              </a:rPr>
            </a:br>
            <a:r>
              <a:rPr lang="de" sz="500">
                <a:solidFill>
                  <a:schemeClr val="dk2"/>
                </a:solidFill>
              </a:rPr>
              <a:t>Cooper, A., Reimann, R., &amp; Cronin, D. (2007). About Face 3: The Essentials of Interaction Design. Wiley.</a:t>
            </a:r>
            <a:br>
              <a:rPr lang="de" sz="500">
                <a:solidFill>
                  <a:schemeClr val="dk2"/>
                </a:solidFill>
              </a:rPr>
            </a:br>
            <a:br>
              <a:rPr lang="de" sz="500">
                <a:solidFill>
                  <a:schemeClr val="dk2"/>
                </a:solidFill>
              </a:rPr>
            </a:br>
            <a:r>
              <a:rPr lang="de" sz="500">
                <a:solidFill>
                  <a:schemeClr val="dk2"/>
                </a:solidFill>
              </a:rPr>
              <a:t>Shneiderman, B., &amp; Plaisant, C. (2010). Designing the User Interface: Strategies for Effective Human-Computer Interaction (5th ed.). Upper Saddle River.</a:t>
            </a:r>
            <a:br>
              <a:rPr lang="de" sz="500">
                <a:solidFill>
                  <a:schemeClr val="dk2"/>
                </a:solidFill>
              </a:rPr>
            </a:br>
            <a:br>
              <a:rPr lang="de" sz="500">
                <a:solidFill>
                  <a:schemeClr val="dk2"/>
                </a:solidFill>
              </a:rPr>
            </a:br>
            <a:r>
              <a:rPr lang="de" sz="500">
                <a:solidFill>
                  <a:schemeClr val="dk2"/>
                </a:solidFill>
              </a:rPr>
              <a:t>B. Baustädter and T. Schreck. Football and big data: A search engine for movements. July 2018 </a:t>
            </a:r>
            <a:br>
              <a:rPr lang="de" sz="500">
                <a:solidFill>
                  <a:schemeClr val="dk2"/>
                </a:solidFill>
              </a:rPr>
            </a:br>
            <a:r>
              <a:rPr lang="de" sz="500">
                <a:solidFill>
                  <a:schemeClr val="dk2"/>
                </a:solidFill>
              </a:rPr>
              <a:t>F</a:t>
            </a:r>
            <a:r>
              <a:rPr lang="de" sz="900">
                <a:solidFill>
                  <a:schemeClr val="dk1"/>
                </a:solidFill>
                <a:highlight>
                  <a:srgbClr val="FFFFFF"/>
                </a:highlight>
              </a:rPr>
              <a:t>.</a:t>
            </a:r>
            <a:r>
              <a:rPr lang="de" sz="500">
                <a:solidFill>
                  <a:schemeClr val="dk2"/>
                </a:solidFill>
              </a:rPr>
              <a:t> Silva.Visualizing shots, goals, players and more with SAS. Apr. 2020. </a:t>
            </a:r>
            <a:endParaRPr sz="500">
              <a:solidFill>
                <a:schemeClr val="dk2"/>
              </a:solidFill>
            </a:endParaRPr>
          </a:p>
          <a:p>
            <a:pPr marL="0" lvl="0" indent="0" algn="l" rtl="0">
              <a:spcBef>
                <a:spcPts val="1200"/>
              </a:spcBef>
              <a:spcAft>
                <a:spcPts val="0"/>
              </a:spcAft>
              <a:buNone/>
            </a:pPr>
            <a:endParaRPr sz="1000">
              <a:solidFill>
                <a:schemeClr val="dk2"/>
              </a:solidFill>
            </a:endParaRPr>
          </a:p>
        </p:txBody>
      </p:sp>
      <p:pic>
        <p:nvPicPr>
          <p:cNvPr id="73" name="Google Shape;73;p15"/>
          <p:cNvPicPr preferRelativeResize="0"/>
          <p:nvPr/>
        </p:nvPicPr>
        <p:blipFill>
          <a:blip r:embed="rId3">
            <a:alphaModFix/>
          </a:blip>
          <a:stretch>
            <a:fillRect/>
          </a:stretch>
        </p:blipFill>
        <p:spPr>
          <a:xfrm>
            <a:off x="8053525" y="0"/>
            <a:ext cx="1090473" cy="545226"/>
          </a:xfrm>
          <a:prstGeom prst="rect">
            <a:avLst/>
          </a:prstGeom>
          <a:noFill/>
          <a:ln>
            <a:noFill/>
          </a:ln>
        </p:spPr>
      </p:pic>
      <p:cxnSp>
        <p:nvCxnSpPr>
          <p:cNvPr id="74" name="Google Shape;74;p15"/>
          <p:cNvCxnSpPr/>
          <p:nvPr/>
        </p:nvCxnSpPr>
        <p:spPr>
          <a:xfrm>
            <a:off x="228575" y="958175"/>
            <a:ext cx="8634300" cy="0"/>
          </a:xfrm>
          <a:prstGeom prst="straightConnector1">
            <a:avLst/>
          </a:prstGeom>
          <a:noFill/>
          <a:ln w="19050" cap="flat" cmpd="sng">
            <a:solidFill>
              <a:srgbClr val="999999"/>
            </a:solidFill>
            <a:prstDash val="solid"/>
            <a:round/>
            <a:headEnd type="none" w="med" len="med"/>
            <a:tailEnd type="none" w="med" len="med"/>
          </a:ln>
        </p:spPr>
      </p:cxnSp>
      <p:sp>
        <p:nvSpPr>
          <p:cNvPr id="75" name="Google Shape;75;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de"/>
              <a:t>3</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9"/>
        <p:cNvGrpSpPr/>
        <p:nvPr/>
      </p:nvGrpSpPr>
      <p:grpSpPr>
        <a:xfrm>
          <a:off x="0" y="0"/>
          <a:ext cx="0" cy="0"/>
          <a:chOff x="0" y="0"/>
          <a:chExt cx="0" cy="0"/>
        </a:xfrm>
      </p:grpSpPr>
      <p:sp>
        <p:nvSpPr>
          <p:cNvPr id="80" name="Google Shape;80;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marR="0" lvl="0" indent="0" algn="l" rtl="0">
              <a:lnSpc>
                <a:spcPct val="100000"/>
              </a:lnSpc>
              <a:spcBef>
                <a:spcPts val="0"/>
              </a:spcBef>
              <a:spcAft>
                <a:spcPts val="0"/>
              </a:spcAft>
              <a:buNone/>
            </a:pPr>
            <a:r>
              <a:rPr lang="de" sz="2150"/>
              <a:t>Description of your proposed solution along the "Design Triangle"</a:t>
            </a:r>
            <a:endParaRPr/>
          </a:p>
        </p:txBody>
      </p:sp>
      <p:sp>
        <p:nvSpPr>
          <p:cNvPr id="81" name="Google Shape;81;p16"/>
          <p:cNvSpPr txBox="1">
            <a:spLocks noGrp="1"/>
          </p:cNvSpPr>
          <p:nvPr>
            <p:ph type="body" idx="1"/>
          </p:nvPr>
        </p:nvSpPr>
        <p:spPr>
          <a:xfrm>
            <a:off x="311700" y="1152475"/>
            <a:ext cx="8520600" cy="3363300"/>
          </a:xfrm>
          <a:prstGeom prst="rect">
            <a:avLst/>
          </a:prstGeom>
        </p:spPr>
        <p:txBody>
          <a:bodyPr spcFirstLastPara="1" wrap="square" lIns="91425" tIns="91425" rIns="91425" bIns="91425" anchor="t" anchorCtr="0">
            <a:normAutofit/>
          </a:bodyPr>
          <a:lstStyle/>
          <a:p>
            <a:pPr marL="457200" marR="0" lvl="0" indent="-342900" algn="l" rtl="0">
              <a:lnSpc>
                <a:spcPct val="115000"/>
              </a:lnSpc>
              <a:spcBef>
                <a:spcPts val="0"/>
              </a:spcBef>
              <a:spcAft>
                <a:spcPts val="0"/>
              </a:spcAft>
              <a:buSzPts val="1800"/>
              <a:buChar char="●"/>
            </a:pPr>
            <a:r>
              <a:rPr lang="de"/>
              <a:t>Data:</a:t>
            </a:r>
            <a:endParaRPr/>
          </a:p>
          <a:p>
            <a:pPr marL="914400" marR="0" lvl="1" indent="-317500" algn="l" rtl="0">
              <a:lnSpc>
                <a:spcPct val="115000"/>
              </a:lnSpc>
              <a:spcBef>
                <a:spcPts val="0"/>
              </a:spcBef>
              <a:spcAft>
                <a:spcPts val="0"/>
              </a:spcAft>
              <a:buSzPts val="1400"/>
              <a:buChar char="○"/>
            </a:pPr>
            <a:r>
              <a:rPr lang="de"/>
              <a:t>games dataset: </a:t>
            </a:r>
            <a:endParaRPr/>
          </a:p>
          <a:p>
            <a:pPr marL="1371600" marR="0" lvl="2" indent="-317500" algn="l" rtl="0">
              <a:lnSpc>
                <a:spcPct val="115000"/>
              </a:lnSpc>
              <a:spcBef>
                <a:spcPts val="0"/>
              </a:spcBef>
              <a:spcAft>
                <a:spcPts val="0"/>
              </a:spcAft>
              <a:buSzPts val="1400"/>
              <a:buChar char="■"/>
            </a:pPr>
            <a:r>
              <a:rPr lang="de"/>
              <a:t>focuses on the when and where of games</a:t>
            </a:r>
            <a:endParaRPr/>
          </a:p>
          <a:p>
            <a:pPr marL="1371600" marR="0" lvl="2" indent="-317500" algn="l" rtl="0">
              <a:lnSpc>
                <a:spcPct val="115000"/>
              </a:lnSpc>
              <a:spcBef>
                <a:spcPts val="0"/>
              </a:spcBef>
              <a:spcAft>
                <a:spcPts val="0"/>
              </a:spcAft>
              <a:buSzPts val="1400"/>
              <a:buChar char="■"/>
            </a:pPr>
            <a:r>
              <a:rPr lang="de"/>
              <a:t>gameID, date, time, and home/away team</a:t>
            </a:r>
            <a:endParaRPr/>
          </a:p>
          <a:p>
            <a:pPr marL="914400" marR="0" lvl="1" indent="-317500" algn="l" rtl="0">
              <a:lnSpc>
                <a:spcPct val="115000"/>
              </a:lnSpc>
              <a:spcBef>
                <a:spcPts val="0"/>
              </a:spcBef>
              <a:spcAft>
                <a:spcPts val="0"/>
              </a:spcAft>
              <a:buSzPts val="1400"/>
              <a:buChar char="○"/>
            </a:pPr>
            <a:r>
              <a:rPr lang="de"/>
              <a:t>week datasets:</a:t>
            </a:r>
            <a:endParaRPr/>
          </a:p>
          <a:p>
            <a:pPr marL="1371600" marR="0" lvl="2" indent="-317500" algn="l" rtl="0">
              <a:lnSpc>
                <a:spcPct val="115000"/>
              </a:lnSpc>
              <a:spcBef>
                <a:spcPts val="0"/>
              </a:spcBef>
              <a:spcAft>
                <a:spcPts val="0"/>
              </a:spcAft>
              <a:buSzPts val="1400"/>
              <a:buChar char="■"/>
            </a:pPr>
            <a:r>
              <a:rPr lang="de"/>
              <a:t>17 weekly datasets</a:t>
            </a:r>
            <a:endParaRPr/>
          </a:p>
          <a:p>
            <a:pPr marL="1371600" marR="0" lvl="2" indent="-317500" algn="l" rtl="0">
              <a:lnSpc>
                <a:spcPct val="115000"/>
              </a:lnSpc>
              <a:spcBef>
                <a:spcPts val="0"/>
              </a:spcBef>
              <a:spcAft>
                <a:spcPts val="0"/>
              </a:spcAft>
              <a:buSzPts val="1400"/>
              <a:buChar char="■"/>
            </a:pPr>
            <a:r>
              <a:rPr lang="de"/>
              <a:t>tracking data of players and ball (millisecond precision)</a:t>
            </a:r>
            <a:endParaRPr/>
          </a:p>
          <a:p>
            <a:pPr marL="914400" marR="0" lvl="1" indent="-317500" algn="l" rtl="0">
              <a:lnSpc>
                <a:spcPct val="115000"/>
              </a:lnSpc>
              <a:spcBef>
                <a:spcPts val="0"/>
              </a:spcBef>
              <a:spcAft>
                <a:spcPts val="0"/>
              </a:spcAft>
              <a:buSzPts val="1400"/>
              <a:buChar char="○"/>
            </a:pPr>
            <a:r>
              <a:rPr lang="de"/>
              <a:t>plays dataset:</a:t>
            </a:r>
            <a:endParaRPr/>
          </a:p>
          <a:p>
            <a:pPr marL="1371600" marR="0" lvl="2" indent="-317500" algn="l" rtl="0">
              <a:lnSpc>
                <a:spcPct val="115000"/>
              </a:lnSpc>
              <a:spcBef>
                <a:spcPts val="0"/>
              </a:spcBef>
              <a:spcAft>
                <a:spcPts val="0"/>
              </a:spcAft>
              <a:buSzPts val="1400"/>
              <a:buChar char="■"/>
            </a:pPr>
            <a:r>
              <a:rPr lang="de"/>
              <a:t>describes each play of the game (gameID, playID)</a:t>
            </a:r>
            <a:endParaRPr/>
          </a:p>
          <a:p>
            <a:pPr marL="1371600" marR="0" lvl="2" indent="-317500" algn="l" rtl="0">
              <a:lnSpc>
                <a:spcPct val="115000"/>
              </a:lnSpc>
              <a:spcBef>
                <a:spcPts val="0"/>
              </a:spcBef>
              <a:spcAft>
                <a:spcPts val="0"/>
              </a:spcAft>
              <a:buSzPts val="1400"/>
              <a:buChar char="■"/>
            </a:pPr>
            <a:r>
              <a:rPr lang="de"/>
              <a:t>formations, score, play result</a:t>
            </a:r>
            <a:endParaRPr/>
          </a:p>
        </p:txBody>
      </p:sp>
      <p:pic>
        <p:nvPicPr>
          <p:cNvPr id="82" name="Google Shape;82;p16"/>
          <p:cNvPicPr preferRelativeResize="0"/>
          <p:nvPr/>
        </p:nvPicPr>
        <p:blipFill>
          <a:blip r:embed="rId3">
            <a:alphaModFix/>
          </a:blip>
          <a:stretch>
            <a:fillRect/>
          </a:stretch>
        </p:blipFill>
        <p:spPr>
          <a:xfrm>
            <a:off x="8053525" y="0"/>
            <a:ext cx="1090473" cy="545226"/>
          </a:xfrm>
          <a:prstGeom prst="rect">
            <a:avLst/>
          </a:prstGeom>
          <a:noFill/>
          <a:ln>
            <a:noFill/>
          </a:ln>
        </p:spPr>
      </p:pic>
      <p:cxnSp>
        <p:nvCxnSpPr>
          <p:cNvPr id="83" name="Google Shape;83;p16"/>
          <p:cNvCxnSpPr/>
          <p:nvPr/>
        </p:nvCxnSpPr>
        <p:spPr>
          <a:xfrm>
            <a:off x="228575" y="958175"/>
            <a:ext cx="8634300" cy="0"/>
          </a:xfrm>
          <a:prstGeom prst="straightConnector1">
            <a:avLst/>
          </a:prstGeom>
          <a:noFill/>
          <a:ln w="19050" cap="flat" cmpd="sng">
            <a:solidFill>
              <a:srgbClr val="999999"/>
            </a:solidFill>
            <a:prstDash val="solid"/>
            <a:round/>
            <a:headEnd type="none" w="med" len="med"/>
            <a:tailEnd type="none" w="med" len="med"/>
          </a:ln>
        </p:spPr>
      </p:cxnSp>
      <p:sp>
        <p:nvSpPr>
          <p:cNvPr id="84" name="Google Shape;84;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de"/>
              <a:t>4</a:t>
            </a:fld>
            <a:endParaRPr/>
          </a:p>
        </p:txBody>
      </p:sp>
      <p:pic>
        <p:nvPicPr>
          <p:cNvPr id="85" name="Google Shape;85;p16"/>
          <p:cNvPicPr preferRelativeResize="0"/>
          <p:nvPr/>
        </p:nvPicPr>
        <p:blipFill>
          <a:blip r:embed="rId4">
            <a:alphaModFix/>
          </a:blip>
          <a:stretch>
            <a:fillRect/>
          </a:stretch>
        </p:blipFill>
        <p:spPr>
          <a:xfrm>
            <a:off x="1934338" y="1535769"/>
            <a:ext cx="4677925" cy="2071950"/>
          </a:xfrm>
          <a:prstGeom prst="rect">
            <a:avLst/>
          </a:prstGeom>
          <a:noFill/>
          <a:ln>
            <a:noFill/>
          </a:ln>
        </p:spPr>
      </p:pic>
      <p:pic>
        <p:nvPicPr>
          <p:cNvPr id="86" name="Google Shape;86;p16"/>
          <p:cNvPicPr preferRelativeResize="0"/>
          <p:nvPr/>
        </p:nvPicPr>
        <p:blipFill>
          <a:blip r:embed="rId5">
            <a:alphaModFix/>
          </a:blip>
          <a:stretch>
            <a:fillRect/>
          </a:stretch>
        </p:blipFill>
        <p:spPr>
          <a:xfrm>
            <a:off x="392425" y="1270388"/>
            <a:ext cx="8306599" cy="3140174"/>
          </a:xfrm>
          <a:prstGeom prst="rect">
            <a:avLst/>
          </a:prstGeom>
          <a:noFill/>
          <a:ln>
            <a:noFill/>
          </a:ln>
        </p:spPr>
      </p:pic>
      <p:pic>
        <p:nvPicPr>
          <p:cNvPr id="87" name="Google Shape;87;p16"/>
          <p:cNvPicPr preferRelativeResize="0"/>
          <p:nvPr/>
        </p:nvPicPr>
        <p:blipFill>
          <a:blip r:embed="rId6">
            <a:alphaModFix/>
          </a:blip>
          <a:stretch>
            <a:fillRect/>
          </a:stretch>
        </p:blipFill>
        <p:spPr>
          <a:xfrm>
            <a:off x="89362" y="1950138"/>
            <a:ext cx="8965268" cy="12432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nodeType="clickEffect">
                                  <p:stCondLst>
                                    <p:cond delay="0"/>
                                  </p:stCondLst>
                                  <p:childTnLst>
                                    <p:set>
                                      <p:cBhvr>
                                        <p:cTn id="10" dur="1" fill="hold">
                                          <p:stCondLst>
                                            <p:cond delay="0"/>
                                          </p:stCondLst>
                                        </p:cTn>
                                        <p:tgtEl>
                                          <p:spTgt spid="85"/>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86"/>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8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marR="0" lvl="0" indent="0" algn="l" rtl="0">
              <a:lnSpc>
                <a:spcPct val="100000"/>
              </a:lnSpc>
              <a:spcBef>
                <a:spcPts val="0"/>
              </a:spcBef>
              <a:spcAft>
                <a:spcPts val="0"/>
              </a:spcAft>
              <a:buNone/>
            </a:pPr>
            <a:r>
              <a:rPr lang="de" sz="2150"/>
              <a:t>Description of your proposed solution along the "Design Triangle"</a:t>
            </a:r>
            <a:endParaRPr/>
          </a:p>
        </p:txBody>
      </p:sp>
      <p:sp>
        <p:nvSpPr>
          <p:cNvPr id="94" name="Google Shape;94;p17"/>
          <p:cNvSpPr txBox="1">
            <a:spLocks noGrp="1"/>
          </p:cNvSpPr>
          <p:nvPr>
            <p:ph type="body" idx="1"/>
          </p:nvPr>
        </p:nvSpPr>
        <p:spPr>
          <a:xfrm>
            <a:off x="311700" y="1152475"/>
            <a:ext cx="8520600" cy="26625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de"/>
              <a:t>Users: </a:t>
            </a:r>
            <a:endParaRPr/>
          </a:p>
          <a:p>
            <a:pPr marL="914400" lvl="1" indent="-317500" algn="l" rtl="0">
              <a:spcBef>
                <a:spcPts val="0"/>
              </a:spcBef>
              <a:spcAft>
                <a:spcPts val="0"/>
              </a:spcAft>
              <a:buSzPts val="1400"/>
              <a:buChar char="○"/>
            </a:pPr>
            <a:r>
              <a:rPr lang="de"/>
              <a:t>Scouts, Coaches, Players, Fans, anyone interested in visual NFL game analytics</a:t>
            </a:r>
            <a:endParaRPr/>
          </a:p>
          <a:p>
            <a:pPr marL="914400" lvl="1" indent="-317500" algn="l" rtl="0">
              <a:spcBef>
                <a:spcPts val="0"/>
              </a:spcBef>
              <a:spcAft>
                <a:spcPts val="0"/>
              </a:spcAft>
              <a:buSzPts val="1400"/>
              <a:buChar char="○"/>
            </a:pPr>
            <a:r>
              <a:rPr lang="de"/>
              <a:t>American Football knowledge needed to understand output</a:t>
            </a:r>
            <a:endParaRPr/>
          </a:p>
          <a:p>
            <a:pPr marL="0" lvl="0" indent="0" algn="l" rtl="0">
              <a:spcBef>
                <a:spcPts val="1200"/>
              </a:spcBef>
              <a:spcAft>
                <a:spcPts val="0"/>
              </a:spcAft>
              <a:buNone/>
            </a:pPr>
            <a:endParaRPr/>
          </a:p>
          <a:p>
            <a:pPr marL="457200" lvl="0" indent="-342900" algn="l" rtl="0">
              <a:spcBef>
                <a:spcPts val="1200"/>
              </a:spcBef>
              <a:spcAft>
                <a:spcPts val="0"/>
              </a:spcAft>
              <a:buSzPts val="1800"/>
              <a:buChar char="●"/>
            </a:pPr>
            <a:r>
              <a:rPr lang="de"/>
              <a:t>Tasks: </a:t>
            </a:r>
            <a:endParaRPr/>
          </a:p>
          <a:p>
            <a:pPr marL="914400" lvl="1" indent="-317500" algn="l" rtl="0">
              <a:spcBef>
                <a:spcPts val="0"/>
              </a:spcBef>
              <a:spcAft>
                <a:spcPts val="0"/>
              </a:spcAft>
              <a:buSzPts val="1400"/>
              <a:buChar char="○"/>
            </a:pPr>
            <a:r>
              <a:rPr lang="de"/>
              <a:t>exploration and conformation of player performance</a:t>
            </a:r>
            <a:endParaRPr/>
          </a:p>
          <a:p>
            <a:pPr marL="914400" lvl="1" indent="-317500" algn="l" rtl="0">
              <a:spcBef>
                <a:spcPts val="0"/>
              </a:spcBef>
              <a:spcAft>
                <a:spcPts val="0"/>
              </a:spcAft>
              <a:buSzPts val="1400"/>
              <a:buChar char="○"/>
            </a:pPr>
            <a:r>
              <a:rPr lang="de"/>
              <a:t>3 different visualizations of game and play execution</a:t>
            </a:r>
            <a:endParaRPr/>
          </a:p>
        </p:txBody>
      </p:sp>
      <p:pic>
        <p:nvPicPr>
          <p:cNvPr id="95" name="Google Shape;95;p17"/>
          <p:cNvPicPr preferRelativeResize="0"/>
          <p:nvPr/>
        </p:nvPicPr>
        <p:blipFill>
          <a:blip r:embed="rId3">
            <a:alphaModFix/>
          </a:blip>
          <a:stretch>
            <a:fillRect/>
          </a:stretch>
        </p:blipFill>
        <p:spPr>
          <a:xfrm>
            <a:off x="8053525" y="0"/>
            <a:ext cx="1090473" cy="545226"/>
          </a:xfrm>
          <a:prstGeom prst="rect">
            <a:avLst/>
          </a:prstGeom>
          <a:noFill/>
          <a:ln>
            <a:noFill/>
          </a:ln>
        </p:spPr>
      </p:pic>
      <p:cxnSp>
        <p:nvCxnSpPr>
          <p:cNvPr id="96" name="Google Shape;96;p17"/>
          <p:cNvCxnSpPr/>
          <p:nvPr/>
        </p:nvCxnSpPr>
        <p:spPr>
          <a:xfrm>
            <a:off x="228575" y="958175"/>
            <a:ext cx="8634300" cy="0"/>
          </a:xfrm>
          <a:prstGeom prst="straightConnector1">
            <a:avLst/>
          </a:prstGeom>
          <a:noFill/>
          <a:ln w="19050" cap="flat" cmpd="sng">
            <a:solidFill>
              <a:srgbClr val="999999"/>
            </a:solidFill>
            <a:prstDash val="solid"/>
            <a:round/>
            <a:headEnd type="none" w="med" len="med"/>
            <a:tailEnd type="none" w="med" len="med"/>
          </a:ln>
        </p:spPr>
      </p:cxnSp>
      <p:sp>
        <p:nvSpPr>
          <p:cNvPr id="97" name="Google Shape;97;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de"/>
              <a:t>5</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marR="0" lvl="0" indent="0" algn="l" rtl="0">
              <a:lnSpc>
                <a:spcPct val="100000"/>
              </a:lnSpc>
              <a:spcBef>
                <a:spcPts val="0"/>
              </a:spcBef>
              <a:spcAft>
                <a:spcPts val="0"/>
              </a:spcAft>
              <a:buNone/>
            </a:pPr>
            <a:r>
              <a:rPr lang="de" sz="2150"/>
              <a:t> Implementation</a:t>
            </a:r>
            <a:endParaRPr/>
          </a:p>
        </p:txBody>
      </p:sp>
      <p:sp>
        <p:nvSpPr>
          <p:cNvPr id="104" name="Google Shape;104;p18"/>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fontScale="77500" lnSpcReduction="20000"/>
          </a:bodyPr>
          <a:lstStyle/>
          <a:p>
            <a:pPr marL="0" lvl="0" indent="0" algn="l" rtl="0">
              <a:spcBef>
                <a:spcPts val="0"/>
              </a:spcBef>
              <a:spcAft>
                <a:spcPts val="0"/>
              </a:spcAft>
              <a:buNone/>
            </a:pPr>
            <a:r>
              <a:rPr lang="de" u="sng"/>
              <a:t>Language</a:t>
            </a:r>
            <a:r>
              <a:rPr lang="de"/>
              <a:t>: Python 3.12</a:t>
            </a:r>
            <a:endParaRPr/>
          </a:p>
          <a:p>
            <a:pPr marL="0" lvl="0" indent="0" algn="l" rtl="0">
              <a:spcBef>
                <a:spcPts val="1200"/>
              </a:spcBef>
              <a:spcAft>
                <a:spcPts val="0"/>
              </a:spcAft>
              <a:buNone/>
            </a:pPr>
            <a:r>
              <a:rPr lang="de" u="sng"/>
              <a:t>Libraries</a:t>
            </a:r>
            <a:r>
              <a:rPr lang="de"/>
              <a:t>: Dash, dash_bootstrap_components, dash_ag_grid, plotly, pandas, numpy</a:t>
            </a:r>
            <a:endParaRPr/>
          </a:p>
          <a:p>
            <a:pPr marL="0" lvl="0" indent="0" algn="l" rtl="0">
              <a:spcBef>
                <a:spcPts val="1200"/>
              </a:spcBef>
              <a:spcAft>
                <a:spcPts val="0"/>
              </a:spcAft>
              <a:buNone/>
            </a:pPr>
            <a:r>
              <a:rPr lang="de" u="sng"/>
              <a:t>Architecture</a:t>
            </a:r>
            <a:r>
              <a:rPr lang="de"/>
              <a:t>: </a:t>
            </a:r>
            <a:endParaRPr/>
          </a:p>
          <a:p>
            <a:pPr marL="0" lvl="0" indent="0" algn="l" rtl="0">
              <a:spcBef>
                <a:spcPts val="1200"/>
              </a:spcBef>
              <a:spcAft>
                <a:spcPts val="0"/>
              </a:spcAft>
              <a:buNone/>
            </a:pPr>
            <a:r>
              <a:rPr lang="de"/>
              <a:t>The system was build with dash_ag_grid for a web application. The data was The view layer would be responsible for presenting the data to the user. dash_ag_grid serves as a part of this layer, providing a rich, interactive grid component that can display data in a tabular format. In Dash applications, the controller layer is somewhat merged with the view, as Dash uses callbacks to handle user interactions. These callbacks react to events in the view (e.g., a user clicking a button or changing a value in a dropdown) and update the view accordingly.</a:t>
            </a:r>
            <a:endParaRPr/>
          </a:p>
          <a:p>
            <a:pPr marL="0" lvl="0" indent="0" algn="l" rtl="0">
              <a:spcBef>
                <a:spcPts val="1200"/>
              </a:spcBef>
              <a:spcAft>
                <a:spcPts val="0"/>
              </a:spcAft>
              <a:buNone/>
            </a:pPr>
            <a:r>
              <a:rPr lang="de"/>
              <a:t>The data is handled in the api providing the necessary data preprocessing function. </a:t>
            </a:r>
            <a:endParaRPr/>
          </a:p>
          <a:p>
            <a:pPr marL="0" lvl="0" indent="0" algn="l" rtl="0">
              <a:spcBef>
                <a:spcPts val="1200"/>
              </a:spcBef>
              <a:spcAft>
                <a:spcPts val="0"/>
              </a:spcAft>
              <a:buNone/>
            </a:pPr>
            <a:r>
              <a:rPr lang="de"/>
              <a:t>The Plots were created in the plotly files. The plots were designed to be interactive in itself to improve performance and prohibiting to many callback requests. </a:t>
            </a:r>
            <a:endParaRPr/>
          </a:p>
          <a:p>
            <a:pPr marL="0" lvl="0" indent="0" algn="l" rtl="0">
              <a:spcBef>
                <a:spcPts val="1200"/>
              </a:spcBef>
              <a:spcAft>
                <a:spcPts val="1200"/>
              </a:spcAft>
              <a:buNone/>
            </a:pPr>
            <a:endParaRPr/>
          </a:p>
        </p:txBody>
      </p:sp>
      <p:pic>
        <p:nvPicPr>
          <p:cNvPr id="106" name="Google Shape;106;p18"/>
          <p:cNvPicPr preferRelativeResize="0"/>
          <p:nvPr/>
        </p:nvPicPr>
        <p:blipFill>
          <a:blip r:embed="rId3">
            <a:alphaModFix/>
          </a:blip>
          <a:stretch>
            <a:fillRect/>
          </a:stretch>
        </p:blipFill>
        <p:spPr>
          <a:xfrm>
            <a:off x="8053525" y="0"/>
            <a:ext cx="1090473" cy="545226"/>
          </a:xfrm>
          <a:prstGeom prst="rect">
            <a:avLst/>
          </a:prstGeom>
          <a:noFill/>
          <a:ln>
            <a:noFill/>
          </a:ln>
        </p:spPr>
      </p:pic>
      <p:cxnSp>
        <p:nvCxnSpPr>
          <p:cNvPr id="107" name="Google Shape;107;p18"/>
          <p:cNvCxnSpPr/>
          <p:nvPr/>
        </p:nvCxnSpPr>
        <p:spPr>
          <a:xfrm>
            <a:off x="228575" y="958175"/>
            <a:ext cx="8634300" cy="0"/>
          </a:xfrm>
          <a:prstGeom prst="straightConnector1">
            <a:avLst/>
          </a:prstGeom>
          <a:noFill/>
          <a:ln w="19050" cap="flat" cmpd="sng">
            <a:solidFill>
              <a:srgbClr val="999999"/>
            </a:solidFill>
            <a:prstDash val="solid"/>
            <a:round/>
            <a:headEnd type="none" w="med" len="med"/>
            <a:tailEnd type="none" w="med" len="med"/>
          </a:ln>
        </p:spPr>
      </p:cxnSp>
      <p:sp>
        <p:nvSpPr>
          <p:cNvPr id="108" name="Google Shape;108;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de"/>
              <a:t>6</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1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marR="0" lvl="0" indent="0" algn="l" rtl="0">
              <a:lnSpc>
                <a:spcPct val="100000"/>
              </a:lnSpc>
              <a:spcBef>
                <a:spcPts val="0"/>
              </a:spcBef>
              <a:spcAft>
                <a:spcPts val="0"/>
              </a:spcAft>
              <a:buNone/>
            </a:pPr>
            <a:r>
              <a:rPr lang="de" sz="2150"/>
              <a:t>Live demo or prepared video </a:t>
            </a:r>
            <a:endParaRPr sz="1100"/>
          </a:p>
          <a:p>
            <a:pPr marL="0" lvl="0" indent="0" algn="l" rtl="0">
              <a:spcBef>
                <a:spcPts val="0"/>
              </a:spcBef>
              <a:spcAft>
                <a:spcPts val="0"/>
              </a:spcAft>
              <a:buNone/>
            </a:pPr>
            <a:endParaRPr sz="2150"/>
          </a:p>
        </p:txBody>
      </p:sp>
      <p:sp>
        <p:nvSpPr>
          <p:cNvPr id="114" name="Google Shape;114;p19"/>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0" marR="0" lvl="0" indent="0" algn="l" rtl="0">
              <a:lnSpc>
                <a:spcPct val="115000"/>
              </a:lnSpc>
              <a:spcBef>
                <a:spcPts val="0"/>
              </a:spcBef>
              <a:spcAft>
                <a:spcPts val="0"/>
              </a:spcAft>
              <a:buNone/>
            </a:pPr>
            <a:r>
              <a:rPr lang="de" dirty="0"/>
              <a:t>show your implementation in action, show use cases (how would actual users apply your tool on their data, and what can they do and find with it?)</a:t>
            </a:r>
            <a:endParaRPr sz="1200" dirty="0">
              <a:solidFill>
                <a:srgbClr val="1D2125"/>
              </a:solidFill>
              <a:highlight>
                <a:srgbClr val="F8F9FA"/>
              </a:highlight>
            </a:endParaRPr>
          </a:p>
          <a:p>
            <a:pPr marL="0" lvl="0" indent="0" algn="l" rtl="0">
              <a:spcBef>
                <a:spcPts val="1200"/>
              </a:spcBef>
              <a:spcAft>
                <a:spcPts val="1200"/>
              </a:spcAft>
              <a:buNone/>
            </a:pPr>
            <a:endParaRPr dirty="0"/>
          </a:p>
        </p:txBody>
      </p:sp>
      <p:pic>
        <p:nvPicPr>
          <p:cNvPr id="115" name="Google Shape;115;p19"/>
          <p:cNvPicPr preferRelativeResize="0"/>
          <p:nvPr/>
        </p:nvPicPr>
        <p:blipFill>
          <a:blip r:embed="rId3">
            <a:alphaModFix/>
          </a:blip>
          <a:stretch>
            <a:fillRect/>
          </a:stretch>
        </p:blipFill>
        <p:spPr>
          <a:xfrm>
            <a:off x="8053525" y="0"/>
            <a:ext cx="1090473" cy="545226"/>
          </a:xfrm>
          <a:prstGeom prst="rect">
            <a:avLst/>
          </a:prstGeom>
          <a:noFill/>
          <a:ln>
            <a:noFill/>
          </a:ln>
        </p:spPr>
      </p:pic>
      <p:cxnSp>
        <p:nvCxnSpPr>
          <p:cNvPr id="116" name="Google Shape;116;p19"/>
          <p:cNvCxnSpPr/>
          <p:nvPr/>
        </p:nvCxnSpPr>
        <p:spPr>
          <a:xfrm>
            <a:off x="228575" y="958175"/>
            <a:ext cx="8634300" cy="0"/>
          </a:xfrm>
          <a:prstGeom prst="straightConnector1">
            <a:avLst/>
          </a:prstGeom>
          <a:noFill/>
          <a:ln w="19050" cap="flat" cmpd="sng">
            <a:solidFill>
              <a:srgbClr val="999999"/>
            </a:solidFill>
            <a:prstDash val="solid"/>
            <a:round/>
            <a:headEnd type="none" w="med" len="med"/>
            <a:tailEnd type="none" w="med" len="med"/>
          </a:ln>
        </p:spPr>
      </p:cxnSp>
      <p:sp>
        <p:nvSpPr>
          <p:cNvPr id="117" name="Google Shape;117;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de"/>
              <a:t>7</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marR="0" lvl="0" indent="0" algn="l" rtl="0">
              <a:lnSpc>
                <a:spcPct val="100000"/>
              </a:lnSpc>
              <a:spcBef>
                <a:spcPts val="0"/>
              </a:spcBef>
              <a:spcAft>
                <a:spcPts val="0"/>
              </a:spcAft>
              <a:buNone/>
            </a:pPr>
            <a:r>
              <a:rPr lang="de" sz="2150" dirty="0"/>
              <a:t>Discussion I</a:t>
            </a:r>
            <a:endParaRPr dirty="0"/>
          </a:p>
        </p:txBody>
      </p:sp>
      <p:sp>
        <p:nvSpPr>
          <p:cNvPr id="123" name="Google Shape;123;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marR="0" lvl="0" indent="0" algn="l" rtl="0">
              <a:lnSpc>
                <a:spcPct val="150000"/>
              </a:lnSpc>
              <a:spcBef>
                <a:spcPts val="0"/>
              </a:spcBef>
              <a:spcAft>
                <a:spcPts val="0"/>
              </a:spcAft>
              <a:buSzPts val="1800"/>
              <a:buNone/>
            </a:pPr>
            <a:r>
              <a:rPr lang="de" dirty="0"/>
              <a:t>advantages/disadvantages of your approach</a:t>
            </a:r>
            <a:endParaRPr dirty="0"/>
          </a:p>
          <a:p>
            <a:pPr marL="914400" marR="0" lvl="1" indent="-317500" algn="l" rtl="0">
              <a:lnSpc>
                <a:spcPct val="150000"/>
              </a:lnSpc>
              <a:spcBef>
                <a:spcPts val="0"/>
              </a:spcBef>
              <a:spcAft>
                <a:spcPts val="0"/>
              </a:spcAft>
              <a:buSzPts val="1400"/>
              <a:buChar char="○"/>
            </a:pPr>
            <a:r>
              <a:rPr lang="de" dirty="0"/>
              <a:t>Functional and Interactive Analysis Tool</a:t>
            </a:r>
            <a:endParaRPr dirty="0"/>
          </a:p>
          <a:p>
            <a:pPr marL="914400" marR="0" lvl="1" indent="-317500" algn="l" rtl="0">
              <a:lnSpc>
                <a:spcPct val="150000"/>
              </a:lnSpc>
              <a:spcBef>
                <a:spcPts val="0"/>
              </a:spcBef>
              <a:spcAft>
                <a:spcPts val="0"/>
              </a:spcAft>
              <a:buSzPts val="1400"/>
              <a:buChar char="○"/>
            </a:pPr>
            <a:r>
              <a:rPr lang="de" dirty="0"/>
              <a:t>Practical for Real-Life Applications</a:t>
            </a:r>
            <a:endParaRPr dirty="0"/>
          </a:p>
          <a:p>
            <a:pPr marL="914400" marR="0" lvl="1" indent="-317500" algn="l" rtl="0">
              <a:lnSpc>
                <a:spcPct val="150000"/>
              </a:lnSpc>
              <a:spcBef>
                <a:spcPts val="0"/>
              </a:spcBef>
              <a:spcAft>
                <a:spcPts val="0"/>
              </a:spcAft>
              <a:buSzPts val="1400"/>
              <a:buChar char="○"/>
            </a:pPr>
            <a:r>
              <a:rPr lang="de" dirty="0"/>
              <a:t>High Code Complexity</a:t>
            </a:r>
            <a:endParaRPr dirty="0"/>
          </a:p>
          <a:p>
            <a:pPr marL="114300" marR="0" lvl="0" indent="0" algn="l" rtl="0">
              <a:lnSpc>
                <a:spcPct val="150000"/>
              </a:lnSpc>
              <a:spcBef>
                <a:spcPts val="0"/>
              </a:spcBef>
              <a:spcAft>
                <a:spcPts val="0"/>
              </a:spcAft>
              <a:buSzPts val="1800"/>
              <a:buNone/>
            </a:pPr>
            <a:r>
              <a:rPr lang="de" dirty="0"/>
              <a:t>what went well?</a:t>
            </a:r>
            <a:endParaRPr dirty="0"/>
          </a:p>
          <a:p>
            <a:pPr marL="914400" marR="0" lvl="1" indent="-317500" algn="l" rtl="0">
              <a:lnSpc>
                <a:spcPct val="150000"/>
              </a:lnSpc>
              <a:spcBef>
                <a:spcPts val="0"/>
              </a:spcBef>
              <a:spcAft>
                <a:spcPts val="0"/>
              </a:spcAft>
              <a:buSzPts val="1400"/>
              <a:buChar char="○"/>
            </a:pPr>
            <a:r>
              <a:rPr lang="de" dirty="0"/>
              <a:t>Effective Team Collaboration</a:t>
            </a:r>
            <a:endParaRPr dirty="0"/>
          </a:p>
          <a:p>
            <a:pPr marL="914400" marR="0" lvl="1" indent="-317500" algn="l" rtl="0">
              <a:lnSpc>
                <a:spcPct val="150000"/>
              </a:lnSpc>
              <a:spcBef>
                <a:spcPts val="0"/>
              </a:spcBef>
              <a:spcAft>
                <a:spcPts val="0"/>
              </a:spcAft>
              <a:buSzPts val="1400"/>
              <a:buChar char="○"/>
            </a:pPr>
            <a:r>
              <a:rPr lang="de" dirty="0"/>
              <a:t>Extensive documentation</a:t>
            </a:r>
            <a:endParaRPr dirty="0"/>
          </a:p>
        </p:txBody>
      </p:sp>
      <p:pic>
        <p:nvPicPr>
          <p:cNvPr id="124" name="Google Shape;124;p20"/>
          <p:cNvPicPr preferRelativeResize="0"/>
          <p:nvPr/>
        </p:nvPicPr>
        <p:blipFill>
          <a:blip r:embed="rId3">
            <a:alphaModFix/>
          </a:blip>
          <a:stretch>
            <a:fillRect/>
          </a:stretch>
        </p:blipFill>
        <p:spPr>
          <a:xfrm>
            <a:off x="8053525" y="0"/>
            <a:ext cx="1090473" cy="545226"/>
          </a:xfrm>
          <a:prstGeom prst="rect">
            <a:avLst/>
          </a:prstGeom>
          <a:noFill/>
          <a:ln>
            <a:noFill/>
          </a:ln>
        </p:spPr>
      </p:pic>
      <p:cxnSp>
        <p:nvCxnSpPr>
          <p:cNvPr id="125" name="Google Shape;125;p20"/>
          <p:cNvCxnSpPr/>
          <p:nvPr/>
        </p:nvCxnSpPr>
        <p:spPr>
          <a:xfrm>
            <a:off x="228575" y="958175"/>
            <a:ext cx="8634300" cy="0"/>
          </a:xfrm>
          <a:prstGeom prst="straightConnector1">
            <a:avLst/>
          </a:prstGeom>
          <a:noFill/>
          <a:ln w="19050" cap="flat" cmpd="sng">
            <a:solidFill>
              <a:srgbClr val="999999"/>
            </a:solidFill>
            <a:prstDash val="solid"/>
            <a:round/>
            <a:headEnd type="none" w="med" len="med"/>
            <a:tailEnd type="none" w="med" len="med"/>
          </a:ln>
        </p:spPr>
      </p:cxnSp>
      <p:sp>
        <p:nvSpPr>
          <p:cNvPr id="126" name="Google Shape;12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de"/>
              <a:t>8</a:t>
            </a:fld>
            <a:endParaRPr/>
          </a:p>
        </p:txBody>
      </p:sp>
      <p:pic>
        <p:nvPicPr>
          <p:cNvPr id="5" name="Grafik 4">
            <a:extLst>
              <a:ext uri="{FF2B5EF4-FFF2-40B4-BE49-F238E27FC236}">
                <a16:creationId xmlns:a16="http://schemas.microsoft.com/office/drawing/2014/main" id="{DF7C04F8-D21B-5DE6-DF76-B6F829EDA136}"/>
              </a:ext>
            </a:extLst>
          </p:cNvPr>
          <p:cNvPicPr>
            <a:picLocks noChangeAspect="1"/>
          </p:cNvPicPr>
          <p:nvPr/>
        </p:nvPicPr>
        <p:blipFill>
          <a:blip r:embed="rId4"/>
          <a:stretch>
            <a:fillRect/>
          </a:stretch>
        </p:blipFill>
        <p:spPr>
          <a:xfrm>
            <a:off x="4541410" y="2009185"/>
            <a:ext cx="4479748" cy="231251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p>
            <a:pPr marL="0" marR="0" lvl="0" indent="0" algn="l" rtl="0">
              <a:lnSpc>
                <a:spcPct val="100000"/>
              </a:lnSpc>
              <a:spcBef>
                <a:spcPts val="0"/>
              </a:spcBef>
              <a:spcAft>
                <a:spcPts val="0"/>
              </a:spcAft>
              <a:buNone/>
            </a:pPr>
            <a:r>
              <a:rPr lang="de" sz="2150" dirty="0"/>
              <a:t>Discussion II</a:t>
            </a:r>
            <a:endParaRPr dirty="0"/>
          </a:p>
        </p:txBody>
      </p:sp>
      <p:sp>
        <p:nvSpPr>
          <p:cNvPr id="123" name="Google Shape;123;p20"/>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p>
            <a:pPr marL="114300" marR="0" lvl="0" indent="0" algn="l" rtl="0">
              <a:lnSpc>
                <a:spcPct val="150000"/>
              </a:lnSpc>
              <a:spcBef>
                <a:spcPts val="0"/>
              </a:spcBef>
              <a:spcAft>
                <a:spcPts val="0"/>
              </a:spcAft>
              <a:buSzPts val="1800"/>
              <a:buNone/>
            </a:pPr>
            <a:r>
              <a:rPr lang="de" dirty="0"/>
              <a:t>what were the difficulties?</a:t>
            </a:r>
            <a:endParaRPr dirty="0"/>
          </a:p>
          <a:p>
            <a:pPr marL="914400" marR="0" lvl="1" indent="-317500" algn="l" rtl="0">
              <a:lnSpc>
                <a:spcPct val="150000"/>
              </a:lnSpc>
              <a:spcBef>
                <a:spcPts val="0"/>
              </a:spcBef>
              <a:spcAft>
                <a:spcPts val="0"/>
              </a:spcAft>
              <a:buSzPts val="1400"/>
              <a:buChar char="○"/>
            </a:pPr>
            <a:r>
              <a:rPr lang="de" dirty="0"/>
              <a:t>Managing Large, Non-Continuous Datasets</a:t>
            </a:r>
            <a:endParaRPr dirty="0"/>
          </a:p>
          <a:p>
            <a:pPr marL="914400" marR="0" lvl="1" indent="-317500" algn="l" rtl="0">
              <a:lnSpc>
                <a:spcPct val="150000"/>
              </a:lnSpc>
              <a:spcBef>
                <a:spcPts val="0"/>
              </a:spcBef>
              <a:spcAft>
                <a:spcPts val="0"/>
              </a:spcAft>
              <a:buSzPts val="1400"/>
              <a:buChar char="○"/>
            </a:pPr>
            <a:r>
              <a:rPr lang="de" dirty="0"/>
              <a:t>Ensuring Complex Interactivity</a:t>
            </a:r>
            <a:endParaRPr dirty="0"/>
          </a:p>
          <a:p>
            <a:pPr marL="114300" marR="0" lvl="0" indent="0" algn="l" rtl="0">
              <a:lnSpc>
                <a:spcPct val="150000"/>
              </a:lnSpc>
              <a:spcBef>
                <a:spcPts val="0"/>
              </a:spcBef>
              <a:spcAft>
                <a:spcPts val="0"/>
              </a:spcAft>
              <a:buSzPts val="1800"/>
              <a:buNone/>
            </a:pPr>
            <a:r>
              <a:rPr lang="de" dirty="0"/>
              <a:t>what would you add if you had more time?</a:t>
            </a:r>
            <a:endParaRPr dirty="0"/>
          </a:p>
          <a:p>
            <a:pPr marL="914400" marR="0" lvl="1" indent="-317500" algn="l" rtl="0">
              <a:lnSpc>
                <a:spcPct val="150000"/>
              </a:lnSpc>
              <a:spcBef>
                <a:spcPts val="0"/>
              </a:spcBef>
              <a:spcAft>
                <a:spcPts val="0"/>
              </a:spcAft>
              <a:buSzPts val="1400"/>
              <a:buChar char="○"/>
            </a:pPr>
            <a:r>
              <a:rPr lang="de" dirty="0"/>
              <a:t>Incorporate Player Heatmap</a:t>
            </a:r>
            <a:endParaRPr dirty="0"/>
          </a:p>
          <a:p>
            <a:pPr marL="914400" marR="0" lvl="1" indent="-317500" algn="l" rtl="0">
              <a:lnSpc>
                <a:spcPct val="150000"/>
              </a:lnSpc>
              <a:spcBef>
                <a:spcPts val="0"/>
              </a:spcBef>
              <a:spcAft>
                <a:spcPts val="0"/>
              </a:spcAft>
              <a:buSzPts val="1400"/>
              <a:buChar char="○"/>
            </a:pPr>
            <a:r>
              <a:rPr lang="de" dirty="0"/>
              <a:t>Implement Lazy Loading</a:t>
            </a:r>
            <a:endParaRPr dirty="0"/>
          </a:p>
          <a:p>
            <a:pPr marL="914400" marR="0" lvl="1" indent="-317500" algn="l" rtl="0">
              <a:lnSpc>
                <a:spcPct val="150000"/>
              </a:lnSpc>
              <a:spcBef>
                <a:spcPts val="0"/>
              </a:spcBef>
              <a:spcAft>
                <a:spcPts val="0"/>
              </a:spcAft>
              <a:buSzPts val="1400"/>
              <a:buChar char="○"/>
            </a:pPr>
            <a:r>
              <a:rPr lang="de" dirty="0"/>
              <a:t>Enhanced Graphics</a:t>
            </a:r>
            <a:endParaRPr dirty="0"/>
          </a:p>
        </p:txBody>
      </p:sp>
      <p:pic>
        <p:nvPicPr>
          <p:cNvPr id="124" name="Google Shape;124;p20"/>
          <p:cNvPicPr preferRelativeResize="0"/>
          <p:nvPr/>
        </p:nvPicPr>
        <p:blipFill>
          <a:blip r:embed="rId3">
            <a:alphaModFix/>
          </a:blip>
          <a:stretch>
            <a:fillRect/>
          </a:stretch>
        </p:blipFill>
        <p:spPr>
          <a:xfrm>
            <a:off x="8053525" y="0"/>
            <a:ext cx="1090473" cy="545226"/>
          </a:xfrm>
          <a:prstGeom prst="rect">
            <a:avLst/>
          </a:prstGeom>
          <a:noFill/>
          <a:ln>
            <a:noFill/>
          </a:ln>
        </p:spPr>
      </p:pic>
      <p:cxnSp>
        <p:nvCxnSpPr>
          <p:cNvPr id="125" name="Google Shape;125;p20"/>
          <p:cNvCxnSpPr/>
          <p:nvPr/>
        </p:nvCxnSpPr>
        <p:spPr>
          <a:xfrm>
            <a:off x="228575" y="958175"/>
            <a:ext cx="8634300" cy="0"/>
          </a:xfrm>
          <a:prstGeom prst="straightConnector1">
            <a:avLst/>
          </a:prstGeom>
          <a:noFill/>
          <a:ln w="19050" cap="flat" cmpd="sng">
            <a:solidFill>
              <a:srgbClr val="999999"/>
            </a:solidFill>
            <a:prstDash val="solid"/>
            <a:round/>
            <a:headEnd type="none" w="med" len="med"/>
            <a:tailEnd type="none" w="med" len="med"/>
          </a:ln>
        </p:spPr>
      </p:cxnSp>
      <p:sp>
        <p:nvSpPr>
          <p:cNvPr id="126" name="Google Shape;126;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de"/>
              <a:t>9</a:t>
            </a:fld>
            <a:endParaRPr/>
          </a:p>
        </p:txBody>
      </p:sp>
      <p:pic>
        <p:nvPicPr>
          <p:cNvPr id="3" name="Grafik 2" descr="Ein Bild, das Screenshot, Multimedia-Software, Text, Grafiksoftware enthält.&#10;&#10;Automatisch generierte Beschreibung">
            <a:extLst>
              <a:ext uri="{FF2B5EF4-FFF2-40B4-BE49-F238E27FC236}">
                <a16:creationId xmlns:a16="http://schemas.microsoft.com/office/drawing/2014/main" id="{4D00DC9F-0C6E-C440-DF24-4AB7536894EB}"/>
              </a:ext>
            </a:extLst>
          </p:cNvPr>
          <p:cNvPicPr>
            <a:picLocks noChangeAspect="1"/>
          </p:cNvPicPr>
          <p:nvPr/>
        </p:nvPicPr>
        <p:blipFill rotWithShape="1">
          <a:blip r:embed="rId4">
            <a:clrChange>
              <a:clrFrom>
                <a:srgbClr val="111111"/>
              </a:clrFrom>
              <a:clrTo>
                <a:srgbClr val="111111">
                  <a:alpha val="0"/>
                </a:srgbClr>
              </a:clrTo>
            </a:clrChange>
          </a:blip>
          <a:srcRect r="11062"/>
          <a:stretch/>
        </p:blipFill>
        <p:spPr>
          <a:xfrm>
            <a:off x="4846350" y="1891423"/>
            <a:ext cx="4174808" cy="2347046"/>
          </a:xfrm>
          <a:prstGeom prst="rect">
            <a:avLst/>
          </a:prstGeom>
        </p:spPr>
      </p:pic>
      <p:pic>
        <p:nvPicPr>
          <p:cNvPr id="6" name="Grafik 5">
            <a:extLst>
              <a:ext uri="{FF2B5EF4-FFF2-40B4-BE49-F238E27FC236}">
                <a16:creationId xmlns:a16="http://schemas.microsoft.com/office/drawing/2014/main" id="{DD340855-84F6-D963-8A9A-4B09E5B18177}"/>
              </a:ext>
            </a:extLst>
          </p:cNvPr>
          <p:cNvPicPr>
            <a:picLocks noChangeAspect="1"/>
          </p:cNvPicPr>
          <p:nvPr/>
        </p:nvPicPr>
        <p:blipFill>
          <a:blip r:embed="rId5"/>
          <a:stretch>
            <a:fillRect/>
          </a:stretch>
        </p:blipFill>
        <p:spPr>
          <a:xfrm>
            <a:off x="5509762" y="1508241"/>
            <a:ext cx="3088999" cy="2374462"/>
          </a:xfrm>
          <a:prstGeom prst="rect">
            <a:avLst/>
          </a:prstGeom>
        </p:spPr>
      </p:pic>
    </p:spTree>
    <p:extLst>
      <p:ext uri="{BB962C8B-B14F-4D97-AF65-F5344CB8AC3E}">
        <p14:creationId xmlns:p14="http://schemas.microsoft.com/office/powerpoint/2010/main" val="3922289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par>
                          <p:cTn id="7" fill="hold">
                            <p:stCondLst>
                              <p:cond delay="0"/>
                            </p:stCondLst>
                            <p:childTnLst>
                              <p:par>
                                <p:cTn id="8" presetID="1" presetClass="entr" presetSubtype="0" fill="hold" nodeType="afterEffect">
                                  <p:stCondLst>
                                    <p:cond delay="0"/>
                                  </p:stCondLst>
                                  <p:childTnLst>
                                    <p:set>
                                      <p:cBhvr>
                                        <p:cTn id="9"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1"/>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ctr" rtl="0">
              <a:spcBef>
                <a:spcPts val="0"/>
              </a:spcBef>
              <a:spcAft>
                <a:spcPts val="0"/>
              </a:spcAft>
              <a:buNone/>
            </a:pPr>
            <a:r>
              <a:rPr lang="de" dirty="0"/>
              <a:t>Thank you for your attention</a:t>
            </a:r>
            <a:endParaRPr dirty="0"/>
          </a:p>
        </p:txBody>
      </p:sp>
      <p:sp>
        <p:nvSpPr>
          <p:cNvPr id="133" name="Google Shape;133;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p>
            <a:pPr marL="0" lvl="0" indent="0" algn="r" rtl="0">
              <a:spcBef>
                <a:spcPts val="0"/>
              </a:spcBef>
              <a:spcAft>
                <a:spcPts val="0"/>
              </a:spcAft>
              <a:buNone/>
            </a:pPr>
            <a:fld id="{00000000-1234-1234-1234-123412341234}" type="slidenum">
              <a:rPr lang="de"/>
              <a:t>10</a:t>
            </a:fld>
            <a:endParaRPr/>
          </a:p>
        </p:txBody>
      </p:sp>
      <p:pic>
        <p:nvPicPr>
          <p:cNvPr id="134" name="Google Shape;134;p21"/>
          <p:cNvPicPr preferRelativeResize="0"/>
          <p:nvPr/>
        </p:nvPicPr>
        <p:blipFill rotWithShape="1">
          <a:blip r:embed="rId3">
            <a:alphaModFix/>
          </a:blip>
          <a:srcRect b="3660"/>
          <a:stretch/>
        </p:blipFill>
        <p:spPr>
          <a:xfrm>
            <a:off x="3157287" y="1177717"/>
            <a:ext cx="2829425" cy="3682300"/>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1142</Words>
  <Application>Microsoft Office PowerPoint</Application>
  <PresentationFormat>Bildschirmpräsentation (16:9)</PresentationFormat>
  <Paragraphs>109</Paragraphs>
  <Slides>10</Slides>
  <Notes>10</Notes>
  <HiddenSlides>0</HiddenSlides>
  <MMClips>0</MMClips>
  <ScaleCrop>false</ScaleCrop>
  <HeadingPairs>
    <vt:vector size="6" baseType="variant">
      <vt:variant>
        <vt:lpstr>Verwendete Schriftarten</vt:lpstr>
      </vt:variant>
      <vt:variant>
        <vt:i4>1</vt:i4>
      </vt:variant>
      <vt:variant>
        <vt:lpstr>Design</vt:lpstr>
      </vt:variant>
      <vt:variant>
        <vt:i4>1</vt:i4>
      </vt:variant>
      <vt:variant>
        <vt:lpstr>Folientitel</vt:lpstr>
      </vt:variant>
      <vt:variant>
        <vt:i4>10</vt:i4>
      </vt:variant>
    </vt:vector>
  </HeadingPairs>
  <TitlesOfParts>
    <vt:vector size="12" baseType="lpstr">
      <vt:lpstr>Arial</vt:lpstr>
      <vt:lpstr>Simple Light</vt:lpstr>
      <vt:lpstr>NFL visual data analysis application</vt:lpstr>
      <vt:lpstr>Motivation</vt:lpstr>
      <vt:lpstr>Design process</vt:lpstr>
      <vt:lpstr>Description of your proposed solution along the "Design Triangle"</vt:lpstr>
      <vt:lpstr>Description of your proposed solution along the "Design Triangle"</vt:lpstr>
      <vt:lpstr> Implementation</vt:lpstr>
      <vt:lpstr>Live demo or prepared video  </vt:lpstr>
      <vt:lpstr>Discussion I</vt:lpstr>
      <vt:lpstr>Discussion II</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Konstantin Benischke</dc:creator>
  <cp:lastModifiedBy>Robert Oswald</cp:lastModifiedBy>
  <cp:revision>1</cp:revision>
  <dcterms:modified xsi:type="dcterms:W3CDTF">2024-06-25T05:17:22Z</dcterms:modified>
</cp:coreProperties>
</file>